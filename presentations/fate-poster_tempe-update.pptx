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3" r:id="rId2"/>
  </p:sldIdLst>
  <p:sldSz cx="43891200" cy="32918400"/>
  <p:notesSz cx="31954788" cy="50149125"/>
  <p:embeddedFontLst>
    <p:embeddedFont>
      <p:font typeface="DM Sans 14pt" pitchFamily="2" charset="77"/>
      <p:regular r:id="rId5"/>
      <p:bold r:id="rId6"/>
      <p:italic r:id="rId7"/>
      <p:boldItalic r:id="rId8"/>
    </p:embeddedFont>
    <p:embeddedFont>
      <p:font typeface="Libre Baskerville" panose="02000000000000000000" pitchFamily="2" charset="0"/>
      <p:regular r:id="rId9"/>
      <p:bold r:id="rId10"/>
      <p:italic r:id="rId11"/>
    </p:embeddedFont>
    <p:embeddedFont>
      <p:font typeface="Lora" pitchFamily="2" charset="77"/>
      <p:regular r:id="rId12"/>
      <p:bold r:id="rId13"/>
      <p:italic r:id="rId14"/>
      <p:boldItalic r:id="rId15"/>
    </p:embeddedFont>
    <p:embeddedFont>
      <p:font typeface="Lora Medium" pitchFamily="2" charset="77"/>
      <p:italic r:id="rId16"/>
    </p:embeddedFont>
    <p:embeddedFont>
      <p:font typeface="Lora SemiBold" pitchFamily="2" charset="77"/>
      <p:bold r:id="rId17"/>
      <p:italic r:id="rId18"/>
      <p:boldItalic r:id="rId19"/>
    </p:embeddedFont>
    <p:embeddedFont>
      <p:font typeface="Lucida Console" panose="020B0609040504020204" pitchFamily="49" charset="0"/>
      <p:regular r:id="rId20"/>
    </p:embeddedFont>
    <p:embeddedFont>
      <p:font typeface="Montserrat" pitchFamily="2" charset="77"/>
      <p:regular r:id="rId21"/>
      <p:bold r:id="rId22"/>
      <p:italic r:id="rId23"/>
      <p:boldItalic r:id="rId24"/>
    </p:embeddedFont>
    <p:embeddedFont>
      <p:font typeface="Montserrat Light" panose="020F0302020204030204" pitchFamily="34" charset="0"/>
      <p:regular r:id="rId25"/>
      <p:italic r:id="rId26"/>
    </p:embeddedFont>
    <p:embeddedFont>
      <p:font typeface="Outfit" pitchFamily="2" charset="0"/>
      <p:regular r:id="rId27"/>
      <p:bold r:id="rId28"/>
    </p:embeddedFont>
  </p:embeddedFontLst>
  <p:custDataLst>
    <p:tags r:id="rId2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68">
          <p15:clr>
            <a:srgbClr val="A4A3A4"/>
          </p15:clr>
        </p15:guide>
        <p15:guide id="2" orient="horz" pos="5632">
          <p15:clr>
            <a:srgbClr val="A4A3A4"/>
          </p15:clr>
        </p15:guide>
        <p15:guide id="3" orient="horz" pos="3533">
          <p15:clr>
            <a:srgbClr val="A4A3A4"/>
          </p15:clr>
        </p15:guide>
        <p15:guide id="4" orient="horz" pos="6246">
          <p15:clr>
            <a:srgbClr val="A4A3A4"/>
          </p15:clr>
        </p15:guide>
        <p15:guide id="5" pos="720">
          <p15:clr>
            <a:srgbClr val="A4A3A4"/>
          </p15:clr>
        </p15:guide>
        <p15:guide id="6" pos="6912">
          <p15:clr>
            <a:srgbClr val="A4A3A4"/>
          </p15:clr>
        </p15:guide>
        <p15:guide id="7" pos="7392">
          <p15:clr>
            <a:srgbClr val="A4A3A4"/>
          </p15:clr>
        </p15:guide>
        <p15:guide id="8" pos="13584">
          <p15:clr>
            <a:srgbClr val="A4A3A4"/>
          </p15:clr>
        </p15:guide>
        <p15:guide id="9" pos="14064">
          <p15:clr>
            <a:srgbClr val="A4A3A4"/>
          </p15:clr>
        </p15:guide>
        <p15:guide id="10" pos="20256">
          <p15:clr>
            <a:srgbClr val="A4A3A4"/>
          </p15:clr>
        </p15:guide>
        <p15:guide id="11" pos="20736">
          <p15:clr>
            <a:srgbClr val="A4A3A4"/>
          </p15:clr>
        </p15:guide>
        <p15:guide id="12" pos="269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795">
          <p15:clr>
            <a:srgbClr val="A4A3A4"/>
          </p15:clr>
        </p15:guide>
        <p15:guide id="2" pos="10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1DDB"/>
    <a:srgbClr val="88D18A"/>
    <a:srgbClr val="C05746"/>
    <a:srgbClr val="510D0A"/>
    <a:srgbClr val="840402"/>
    <a:srgbClr val="A167B2"/>
    <a:srgbClr val="353941"/>
    <a:srgbClr val="2D3C50"/>
    <a:srgbClr val="E64B3C"/>
    <a:srgbClr val="3F61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523C28-F2D4-D340-9B67-DE9D39BBECD2}" v="173" dt="2025-11-07T14:23:54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68" autoAdjust="0"/>
    <p:restoredTop sz="94660" autoAdjust="0"/>
  </p:normalViewPr>
  <p:slideViewPr>
    <p:cSldViewPr>
      <p:cViewPr varScale="1">
        <p:scale>
          <a:sx n="33" d="100"/>
          <a:sy n="33" d="100"/>
        </p:scale>
        <p:origin x="1216" y="344"/>
      </p:cViewPr>
      <p:guideLst>
        <p:guide orient="horz" pos="19968"/>
        <p:guide orient="horz" pos="5632"/>
        <p:guide orient="horz" pos="3533"/>
        <p:guide orient="horz" pos="6246"/>
        <p:guide pos="720"/>
        <p:guide pos="6912"/>
        <p:guide pos="7392"/>
        <p:guide pos="13584"/>
        <p:guide pos="14064"/>
        <p:guide pos="20256"/>
        <p:guide pos="20736"/>
        <p:guide pos="26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17" d="100"/>
          <a:sy n="17" d="100"/>
        </p:scale>
        <p:origin x="4416" y="178"/>
      </p:cViewPr>
      <p:guideLst>
        <p:guide orient="horz" pos="15795"/>
        <p:guide pos="100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26" Type="http://schemas.openxmlformats.org/officeDocument/2006/relationships/font" Target="fonts/font22.fntdata"/><Relationship Id="rId3" Type="http://schemas.openxmlformats.org/officeDocument/2006/relationships/notesMaster" Target="notesMasters/notesMaster1.xml"/><Relationship Id="rId21" Type="http://schemas.openxmlformats.org/officeDocument/2006/relationships/font" Target="fonts/font17.fntdata"/><Relationship Id="rId34" Type="http://schemas.microsoft.com/office/2016/11/relationships/changesInfo" Target="changesInfos/changesInfo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font" Target="fonts/font2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font" Target="fonts/font20.fntdata"/><Relationship Id="rId32" Type="http://schemas.openxmlformats.org/officeDocument/2006/relationships/theme" Target="theme/theme1.xml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font" Target="fonts/font19.fntdata"/><Relationship Id="rId28" Type="http://schemas.openxmlformats.org/officeDocument/2006/relationships/font" Target="fonts/font24.fntdata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31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Relationship Id="rId27" Type="http://schemas.openxmlformats.org/officeDocument/2006/relationships/font" Target="fonts/font23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Agniel" userId="438b09fb-6835-4047-acca-c9b437250416" providerId="ADAL" clId="{740330E3-F6F7-5499-929A-AB3979004C97}"/>
    <pc:docChg chg="custSel modSld">
      <pc:chgData name="Denis Agniel" userId="438b09fb-6835-4047-acca-c9b437250416" providerId="ADAL" clId="{740330E3-F6F7-5499-929A-AB3979004C97}" dt="2025-11-07T14:24:04.140" v="3" actId="14100"/>
      <pc:docMkLst>
        <pc:docMk/>
      </pc:docMkLst>
      <pc:sldChg chg="addSp delSp modSp mod">
        <pc:chgData name="Denis Agniel" userId="438b09fb-6835-4047-acca-c9b437250416" providerId="ADAL" clId="{740330E3-F6F7-5499-929A-AB3979004C97}" dt="2025-11-07T14:24:04.140" v="3" actId="14100"/>
        <pc:sldMkLst>
          <pc:docMk/>
          <pc:sldMk cId="0" sldId="263"/>
        </pc:sldMkLst>
        <pc:picChg chg="add mod">
          <ac:chgData name="Denis Agniel" userId="438b09fb-6835-4047-acca-c9b437250416" providerId="ADAL" clId="{740330E3-F6F7-5499-929A-AB3979004C97}" dt="2025-11-07T14:24:04.140" v="3" actId="14100"/>
          <ac:picMkLst>
            <pc:docMk/>
            <pc:sldMk cId="0" sldId="263"/>
            <ac:picMk id="4" creationId="{3441E2B8-8ECC-CE85-5857-8F8F83BDA2B5}"/>
          </ac:picMkLst>
        </pc:picChg>
        <pc:picChg chg="del">
          <ac:chgData name="Denis Agniel" userId="438b09fb-6835-4047-acca-c9b437250416" providerId="ADAL" clId="{740330E3-F6F7-5499-929A-AB3979004C97}" dt="2025-11-07T14:23:54.161" v="0" actId="478"/>
          <ac:picMkLst>
            <pc:docMk/>
            <pc:sldMk cId="0" sldId="263"/>
            <ac:picMk id="34" creationId="{05F7154E-B561-222A-5622-53088313923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4508500">
              <a:defRPr sz="6000"/>
            </a:lvl1pPr>
          </a:lstStyle>
          <a:p>
            <a:pPr>
              <a:defRPr/>
            </a:pPr>
            <a:fld id="{440C443C-8022-4F5D-8F2E-5133654FC91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92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78200" y="3757613"/>
            <a:ext cx="24996775" cy="1874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137025" y="24004588"/>
            <a:ext cx="23456900" cy="2251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4508500">
              <a:defRPr sz="6000"/>
            </a:lvl1pPr>
          </a:lstStyle>
          <a:p>
            <a:pPr>
              <a:defRPr/>
            </a:pPr>
            <a:fld id="{42207482-9F38-4AF6-9B91-768DCEDA59A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799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 smtId="4294967295"/>
            </a:defPPr>
            <a:lvl1pPr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42B0325-ACC9-488E-8876-C4E9E3B68AD8}" type="slidenum">
              <a:rPr lang="en-AU" sz="6000" smtClean="0"/>
              <a:t>1</a:t>
            </a:fld>
            <a:endParaRPr lang="en-AU" sz="60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123" y="10226675"/>
            <a:ext cx="37306957" cy="7054850"/>
          </a:xfr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245" y="18653125"/>
            <a:ext cx="30722711" cy="8413750"/>
          </a:xfrm>
        </p:spPr>
        <p:txBody>
          <a:bodyPr/>
          <a:lstStyle>
            <a:defPPr>
              <a:defRPr kern="1200" smtId="4294967295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0DA66E67-F948-4693-96A5-27BC239C04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2258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0EC1B4D6-BEE2-4AF6-A92E-38CD68913D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6266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439"/>
            <a:ext cx="37306957" cy="6537325"/>
          </a:xfrm>
        </p:spPr>
        <p:txBody>
          <a:bodyPr anchor="t"/>
          <a:lstStyle>
            <a:defPPr>
              <a:defRPr kern="1200" smtId="4294967295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538"/>
            <a:ext cx="37306957" cy="7200900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D8650354-6837-43DB-843B-C6021BD2E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382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3534" y="9509126"/>
            <a:ext cx="18584332" cy="19751675"/>
          </a:xfrm>
        </p:spPr>
        <p:txBody>
          <a:bodyPr/>
          <a:lstStyle>
            <a:defPPr>
              <a:defRPr kern="1200" smtId="4294967295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3334" y="9509126"/>
            <a:ext cx="18584332" cy="19751675"/>
          </a:xfrm>
        </p:spPr>
        <p:txBody>
          <a:bodyPr/>
          <a:lstStyle>
            <a:defPPr>
              <a:defRPr kern="1200" smtId="4294967295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4296FF25-ADB1-4315-9622-9852994CD1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0916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</p:spPr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278" y="7369176"/>
            <a:ext cx="19392900" cy="3070225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278" y="10439400"/>
            <a:ext cx="19392900" cy="18965862"/>
          </a:xfrm>
        </p:spPr>
        <p:txBody>
          <a:bodyPr/>
          <a:lstStyle>
            <a:defPPr>
              <a:defRPr kern="1200" smtId="4294967295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5555" y="7369176"/>
            <a:ext cx="19401368" cy="3070225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5555" y="10439400"/>
            <a:ext cx="19401368" cy="18965862"/>
          </a:xfrm>
        </p:spPr>
        <p:txBody>
          <a:bodyPr/>
          <a:lstStyle>
            <a:defPPr>
              <a:defRPr kern="1200" smtId="4294967295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72EF82B1-171C-4CAC-B9C4-22062286C8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239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678F620B-8934-45A0-BE2C-EF6C76032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8633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A3ECE3F5-A3DD-46D3-8112-19EE7FD1DD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2527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8" y="1311275"/>
            <a:ext cx="14439900" cy="5576888"/>
          </a:xfrm>
        </p:spPr>
        <p:txBody>
          <a:bodyPr anchor="b"/>
          <a:lstStyle>
            <a:defPPr>
              <a:defRPr kern="1200" smtId="4294967295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523" y="1311275"/>
            <a:ext cx="24536400" cy="28093988"/>
          </a:xfrm>
        </p:spPr>
        <p:txBody>
          <a:bodyPr/>
          <a:lstStyle>
            <a:defPPr>
              <a:defRPr kern="1200" smtId="4294967295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278" y="6888163"/>
            <a:ext cx="14439900" cy="22517100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96691E56-DA67-4BF5-BA67-706F30B370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956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545" y="23042564"/>
            <a:ext cx="26334157" cy="2720975"/>
          </a:xfrm>
        </p:spPr>
        <p:txBody>
          <a:bodyPr anchor="b"/>
          <a:lstStyle>
            <a:defPPr>
              <a:defRPr kern="1200" smtId="4294967295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545" y="2941638"/>
            <a:ext cx="26334157" cy="19750088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545" y="25763539"/>
            <a:ext cx="26334157" cy="3862387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87F51DAE-E528-43E1-8BE0-91521416EF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948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2DA27A25-0059-41B6-A6E5-54D93C1080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8746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1635" y="2925763"/>
            <a:ext cx="9326033" cy="26335038"/>
          </a:xfrm>
        </p:spPr>
        <p:txBody>
          <a:bodyPr vert="eaVert"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3534" y="2925763"/>
            <a:ext cx="27842635" cy="26335038"/>
          </a:xfrm>
        </p:spPr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043B26BC-A2E6-4CDA-9F76-12293F2660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8540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96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94063" y="2925763"/>
            <a:ext cx="3730307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ctr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94063" y="9509125"/>
            <a:ext cx="37303075" cy="1975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4267200">
              <a:defRPr sz="6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ctr" defTabSz="4267200">
              <a:defRPr sz="6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4267200">
              <a:defRPr sz="6500"/>
            </a:lvl1pPr>
          </a:lstStyle>
          <a:p>
            <a:pPr>
              <a:defRPr/>
            </a:pPr>
            <a:fld id="{469A0CB4-D18D-4AEF-B324-9EDF067D13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 smtId="4294967295"/>
      </a:defPPr>
      <a:lvl1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2pPr>
      <a:lvl3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3pPr>
      <a:lvl4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4pPr>
      <a:lvl5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5pPr>
      <a:lvl6pPr marL="4572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6pPr>
      <a:lvl7pPr marL="9144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7pPr>
      <a:lvl8pPr marL="13716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8pPr>
      <a:lvl9pPr marL="18288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 smtId="4294967295"/>
      </a:defPPr>
      <a:lvl1pPr marL="1600200" indent="-1600200" algn="l" defTabSz="4267200" rtl="0" eaLnBrk="0" fontAlgn="base" hangingPunct="0">
        <a:spcBef>
          <a:spcPct val="20000"/>
        </a:spcBef>
        <a:spcAft>
          <a:spcPct val="0"/>
        </a:spcAft>
        <a:buChar char="•"/>
        <a:defRPr sz="14900">
          <a:solidFill>
            <a:schemeClr val="tx1"/>
          </a:solidFill>
          <a:latin typeface="+mn-lt"/>
          <a:ea typeface="+mn-ea"/>
          <a:cs typeface="+mn-cs"/>
        </a:defRPr>
      </a:lvl1pPr>
      <a:lvl2pPr marL="3467100" indent="-1333500" algn="l" defTabSz="4267200" rtl="0" eaLnBrk="0" fontAlgn="base" hangingPunct="0">
        <a:spcBef>
          <a:spcPct val="20000"/>
        </a:spcBef>
        <a:spcAft>
          <a:spcPct val="0"/>
        </a:spcAft>
        <a:buChar char="–"/>
        <a:defRPr sz="13100">
          <a:solidFill>
            <a:schemeClr val="tx1"/>
          </a:solidFill>
          <a:latin typeface="+mn-lt"/>
        </a:defRPr>
      </a:lvl2pPr>
      <a:lvl3pPr marL="5334000" indent="-1066800" algn="l" defTabSz="4267200" rtl="0" eaLnBrk="0" fontAlgn="base" hangingPunct="0">
        <a:spcBef>
          <a:spcPct val="20000"/>
        </a:spcBef>
        <a:spcAft>
          <a:spcPct val="0"/>
        </a:spcAft>
        <a:buChar char="•"/>
        <a:defRPr sz="11200">
          <a:solidFill>
            <a:schemeClr val="tx1"/>
          </a:solidFill>
          <a:latin typeface="+mn-lt"/>
        </a:defRPr>
      </a:lvl3pPr>
      <a:lvl4pPr marL="7467600" indent="-1066800" algn="l" defTabSz="4267200" rtl="0" eaLnBrk="0" fontAlgn="base" hangingPunct="0">
        <a:spcBef>
          <a:spcPct val="20000"/>
        </a:spcBef>
        <a:spcAft>
          <a:spcPct val="0"/>
        </a:spcAft>
        <a:buChar char="–"/>
        <a:defRPr sz="9300">
          <a:solidFill>
            <a:schemeClr val="tx1"/>
          </a:solidFill>
          <a:latin typeface="+mn-lt"/>
        </a:defRPr>
      </a:lvl4pPr>
      <a:lvl5pPr marL="96012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5pPr>
      <a:lvl6pPr marL="100584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6pPr>
      <a:lvl7pPr marL="105156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7pPr>
      <a:lvl8pPr marL="109728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8pPr>
      <a:lvl9pPr marL="114300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9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C718E78-BDD8-4BAD-851F-D423AE935B0D}"/>
              </a:ext>
            </a:extLst>
          </p:cNvPr>
          <p:cNvSpPr/>
          <p:nvPr/>
        </p:nvSpPr>
        <p:spPr>
          <a:xfrm>
            <a:off x="25494927" y="32021"/>
            <a:ext cx="9506570" cy="32918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962C1A-C4F3-4707-A73A-A754C935359B}"/>
              </a:ext>
            </a:extLst>
          </p:cNvPr>
          <p:cNvSpPr/>
          <p:nvPr/>
        </p:nvSpPr>
        <p:spPr>
          <a:xfrm>
            <a:off x="35045626" y="0"/>
            <a:ext cx="8845574" cy="329796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 dirty="0">
              <a:latin typeface="+mj-lt"/>
            </a:endParaRPr>
          </a:p>
        </p:txBody>
      </p:sp>
      <p:sp>
        <p:nvSpPr>
          <p:cNvPr id="41" name="Title 11">
            <a:extLst>
              <a:ext uri="{FF2B5EF4-FFF2-40B4-BE49-F238E27FC236}">
                <a16:creationId xmlns:a16="http://schemas.microsoft.com/office/drawing/2014/main" id="{8785E597-B0C8-4CA8-9A56-A0F3996D088D}"/>
              </a:ext>
            </a:extLst>
          </p:cNvPr>
          <p:cNvSpPr txBox="1"/>
          <p:nvPr/>
        </p:nvSpPr>
        <p:spPr>
          <a:xfrm>
            <a:off x="762000" y="2438400"/>
            <a:ext cx="23393400" cy="2746935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kern="1200" smtId="4294967295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000" dirty="0">
                <a:solidFill>
                  <a:schemeClr val="bg1"/>
                </a:solidFill>
                <a:latin typeface="Outfit" pitchFamily="2" charset="0"/>
              </a:rPr>
              <a:t>We estimate in the past but implement policies in the future.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BC3B70E-A392-4069-A147-C1FCF37051AF}"/>
              </a:ext>
            </a:extLst>
          </p:cNvPr>
          <p:cNvSpPr txBox="1"/>
          <p:nvPr/>
        </p:nvSpPr>
        <p:spPr>
          <a:xfrm>
            <a:off x="25494928" y="1981200"/>
            <a:ext cx="9506569" cy="1877437"/>
          </a:xfrm>
          <a:prstGeom prst="rect">
            <a:avLst/>
          </a:prstGeom>
        </p:spPr>
        <p:txBody>
          <a:bodyPr wrap="square" lIns="128016" tIns="64008" rIns="128016" bIns="64008">
            <a:spAutoFit/>
          </a:bodyPr>
          <a:lstStyle>
            <a:defPPr>
              <a:defRPr kern="1200" smtId="4294967295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751DDB"/>
                </a:solidFill>
                <a:latin typeface="Outfit" pitchFamily="2" charset="0"/>
              </a:rPr>
              <a:t>Denis Agniel</a:t>
            </a: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Outfit" pitchFamily="2" charset="0"/>
              </a:rPr>
              <a:t>*</a:t>
            </a:r>
            <a:r>
              <a:rPr lang="en-US" sz="4000" dirty="0">
                <a:solidFill>
                  <a:srgbClr val="751DDB"/>
                </a:solidFill>
                <a:latin typeface="Outfit" pitchFamily="2" charset="0"/>
              </a:rPr>
              <a:t>, Terry Schell, Rosanna Smart, Andrew Morral</a:t>
            </a:r>
          </a:p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Outfit" pitchFamily="2" charset="0"/>
              </a:rPr>
              <a:t>*</a:t>
            </a:r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utfit" pitchFamily="2" charset="0"/>
              </a:rPr>
              <a:t>dagniel@rand.org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Outfit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D5F59B-F8CA-463C-871F-D1042309DE00}"/>
              </a:ext>
            </a:extLst>
          </p:cNvPr>
          <p:cNvSpPr txBox="1"/>
          <p:nvPr/>
        </p:nvSpPr>
        <p:spPr>
          <a:xfrm>
            <a:off x="25494927" y="4495800"/>
            <a:ext cx="9328473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algn="ctr"/>
            <a:r>
              <a:rPr lang="en-US" sz="5200" dirty="0">
                <a:solidFill>
                  <a:srgbClr val="751DDB"/>
                </a:solidFill>
                <a:latin typeface="Outfit" pitchFamily="2" charset="0"/>
              </a:rPr>
              <a:t>Firearm policies change, and their effects may change, too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3EAA92-7B93-4F15-A4CA-18552CBA76AE}"/>
              </a:ext>
            </a:extLst>
          </p:cNvPr>
          <p:cNvSpPr txBox="1"/>
          <p:nvPr/>
        </p:nvSpPr>
        <p:spPr>
          <a:xfrm>
            <a:off x="25653705" y="6776383"/>
            <a:ext cx="9120716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Quantitative studies estimate policy effects on </a:t>
            </a:r>
            <a:r>
              <a:rPr lang="en-US" sz="4000" b="1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historical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Public behavior, enforcement, and attitudes shift over 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Policy effects may therefore change over 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Studies of right-to-carry laws suggests effects may differ by time of adoption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Recent difference-in-differences literature stresses dynamic effects</a:t>
            </a:r>
          </a:p>
        </p:txBody>
      </p:sp>
      <p:sp>
        <p:nvSpPr>
          <p:cNvPr id="30" name="Title 11">
            <a:extLst>
              <a:ext uri="{FF2B5EF4-FFF2-40B4-BE49-F238E27FC236}">
                <a16:creationId xmlns:a16="http://schemas.microsoft.com/office/drawing/2014/main" id="{B6CA4236-BA9A-4353-98F0-CD508DA2DA81}"/>
              </a:ext>
            </a:extLst>
          </p:cNvPr>
          <p:cNvSpPr txBox="1"/>
          <p:nvPr/>
        </p:nvSpPr>
        <p:spPr>
          <a:xfrm>
            <a:off x="25494928" y="152400"/>
            <a:ext cx="9506569" cy="1828800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kern="1200" smtId="4294967295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solidFill>
                  <a:srgbClr val="353941"/>
                </a:solidFill>
                <a:latin typeface="Outfit" pitchFamily="2" charset="0"/>
              </a:rPr>
              <a:t>Overcoming the Streetlight Effect: The Role of Time Heterogeneity in Estimating Firearm Policy Effects</a:t>
            </a:r>
          </a:p>
          <a:p>
            <a:pPr algn="l"/>
            <a:endParaRPr lang="en-US" sz="4400" b="1" dirty="0">
              <a:solidFill>
                <a:srgbClr val="353941"/>
              </a:solidFill>
              <a:latin typeface="Libre Baskerville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B4B9A6A-B757-421B-83FE-276B5DEDE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1800" y="29269104"/>
            <a:ext cx="3115896" cy="3115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3E55134-5FC2-4AAC-9FB9-920E646EBFF0}"/>
              </a:ext>
            </a:extLst>
          </p:cNvPr>
          <p:cNvSpPr txBox="1"/>
          <p:nvPr/>
        </p:nvSpPr>
        <p:spPr>
          <a:xfrm>
            <a:off x="35085596" y="33095"/>
            <a:ext cx="88056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algn="ctr"/>
            <a:r>
              <a:rPr lang="en-US" sz="5200" dirty="0">
                <a:solidFill>
                  <a:srgbClr val="751DDB"/>
                </a:solidFill>
                <a:latin typeface="Outfit" pitchFamily="2" charset="0"/>
              </a:rPr>
              <a:t>Two paths forward for quantitative analysis of firearm policies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0007F1-7D16-230A-6F1D-1EFE52E88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40800" y="29269105"/>
            <a:ext cx="3115896" cy="3115896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F0C4308F-12DD-BE0D-32D8-D4C3E57AA6A4}"/>
              </a:ext>
            </a:extLst>
          </p:cNvPr>
          <p:cNvSpPr txBox="1"/>
          <p:nvPr/>
        </p:nvSpPr>
        <p:spPr>
          <a:xfrm>
            <a:off x="762000" y="5939865"/>
            <a:ext cx="23393400" cy="2746935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kern="1200" smtId="4294967295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9000" dirty="0">
                <a:solidFill>
                  <a:schemeClr val="accent3"/>
                </a:solidFill>
                <a:latin typeface="Lora Medium" pitchFamily="2" charset="77"/>
              </a:rPr>
              <a:t>Dynamic policy effects require future-oriented causal inference.</a:t>
            </a:r>
            <a:endParaRPr lang="en-US" sz="9000" b="1" dirty="0">
              <a:solidFill>
                <a:schemeClr val="accent3"/>
              </a:solidFill>
              <a:latin typeface="Lora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DEF919-2F5B-C82A-E4A8-2331697C8F36}"/>
              </a:ext>
            </a:extLst>
          </p:cNvPr>
          <p:cNvSpPr/>
          <p:nvPr/>
        </p:nvSpPr>
        <p:spPr>
          <a:xfrm>
            <a:off x="35045626" y="2667000"/>
            <a:ext cx="8845574" cy="49552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9C1D90-BEDC-0C7F-8F1E-A29EBA7FFBAC}"/>
              </a:ext>
            </a:extLst>
          </p:cNvPr>
          <p:cNvSpPr txBox="1"/>
          <p:nvPr/>
        </p:nvSpPr>
        <p:spPr>
          <a:xfrm>
            <a:off x="35085595" y="2895600"/>
            <a:ext cx="8845574" cy="4955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4000" i="1" dirty="0">
                <a:latin typeface="Lora SemiBold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Take dynamic policy effects </a:t>
            </a:r>
            <a:r>
              <a:rPr lang="en-US" sz="4000" i="1" dirty="0">
                <a:solidFill>
                  <a:srgbClr val="C05746"/>
                </a:solidFill>
                <a:latin typeface="Lora SemiBold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less</a:t>
            </a:r>
            <a:r>
              <a:rPr lang="en-US" sz="4000" i="1" dirty="0">
                <a:latin typeface="Lora SemiBold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seriously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Assume policy effects do not change over time (homogeneity)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Past data identifies future impact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More statistical efficiency, but may not be plausible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Montserrat Light" panose="000004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E424D1-4BDC-2F6E-1E56-D5F7E983706C}"/>
              </a:ext>
            </a:extLst>
          </p:cNvPr>
          <p:cNvSpPr/>
          <p:nvPr/>
        </p:nvSpPr>
        <p:spPr>
          <a:xfrm>
            <a:off x="35052000" y="11168069"/>
            <a:ext cx="8839200" cy="640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629BF3-C30A-2172-93E2-C89C7151F4D5}"/>
              </a:ext>
            </a:extLst>
          </p:cNvPr>
          <p:cNvSpPr txBox="1"/>
          <p:nvPr/>
        </p:nvSpPr>
        <p:spPr>
          <a:xfrm>
            <a:off x="35085595" y="11277600"/>
            <a:ext cx="8845574" cy="640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4000" i="1" dirty="0">
                <a:latin typeface="Lora SemiBold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Take dynamic policy effects </a:t>
            </a:r>
            <a:r>
              <a:rPr lang="en-US" sz="4000" i="1" dirty="0">
                <a:solidFill>
                  <a:srgbClr val="88D18A"/>
                </a:solidFill>
                <a:latin typeface="Lora SemiBold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  <a:r>
              <a:rPr lang="en-US" sz="4000" i="1" dirty="0">
                <a:latin typeface="Lora SemiBold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seriously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Explicitly model change in policy effects over 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Extrapolate historical effects to present day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Acknowledge additional variability due to extrapolation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Example: policy effects may wane as people adapt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DEE095-AA66-D80B-D00B-74986A29F862}"/>
              </a:ext>
            </a:extLst>
          </p:cNvPr>
          <p:cNvSpPr txBox="1"/>
          <p:nvPr/>
        </p:nvSpPr>
        <p:spPr>
          <a:xfrm>
            <a:off x="35045624" y="7662869"/>
            <a:ext cx="884557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00" dirty="0">
                <a:solidFill>
                  <a:srgbClr val="751DDB"/>
                </a:solidFill>
                <a:latin typeface="Outfit" pitchFamily="2" charset="0"/>
              </a:rPr>
              <a:t>Either path translates historical data into insights relevant to future policy decisions</a:t>
            </a:r>
          </a:p>
        </p:txBody>
      </p:sp>
      <p:sp>
        <p:nvSpPr>
          <p:cNvPr id="16" name="Title 11">
            <a:extLst>
              <a:ext uri="{FF2B5EF4-FFF2-40B4-BE49-F238E27FC236}">
                <a16:creationId xmlns:a16="http://schemas.microsoft.com/office/drawing/2014/main" id="{9694301E-E70F-7731-F039-A2042FE27D0D}"/>
              </a:ext>
            </a:extLst>
          </p:cNvPr>
          <p:cNvSpPr txBox="1"/>
          <p:nvPr/>
        </p:nvSpPr>
        <p:spPr>
          <a:xfrm>
            <a:off x="392191" y="31623000"/>
            <a:ext cx="22399913" cy="1676400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kern="1200" smtId="4294967295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400" dirty="0">
                <a:solidFill>
                  <a:srgbClr val="7030A0"/>
                </a:solidFill>
                <a:latin typeface="Montserrat" panose="00000500000000000000" pitchFamily="2" charset="0"/>
              </a:rPr>
              <a:t>Keywords</a:t>
            </a:r>
            <a:r>
              <a:rPr lang="en-US" sz="3400" dirty="0">
                <a:solidFill>
                  <a:schemeClr val="bg1"/>
                </a:solidFill>
                <a:latin typeface="Montserrat" panose="00000500000000000000" pitchFamily="2" charset="0"/>
              </a:rPr>
              <a:t>: Causal inference · Dynamic firearm policy effects  · External validity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8F6EAA-A8A0-59CA-82A1-5070BB6ABEEF}"/>
              </a:ext>
            </a:extLst>
          </p:cNvPr>
          <p:cNvSpPr txBox="1"/>
          <p:nvPr/>
        </p:nvSpPr>
        <p:spPr>
          <a:xfrm>
            <a:off x="25494927" y="17907000"/>
            <a:ext cx="18396273" cy="41088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751DDB"/>
                </a:solidFill>
                <a:latin typeface="Outfit" pitchFamily="2" charset="0"/>
              </a:rPr>
              <a:t>Analysis of right-to- carry policies in  CDC WONDER mortality data, 2001-2022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dirty="0">
                <a:latin typeface="DM Sans 14pt" pitchFamily="2" charset="77"/>
              </a:rPr>
              <a:t>Policy data come from RAND State Firearm Law Database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dirty="0">
                <a:latin typeface="DM Sans 14pt" pitchFamily="2" charset="77"/>
              </a:rPr>
              <a:t>Dynamic group-time ATT estimates obtained using the </a:t>
            </a:r>
            <a:r>
              <a:rPr lang="en-US" sz="3700" dirty="0">
                <a:latin typeface="Lucida Console" panose="020B0609040504020204" pitchFamily="49" charset="0"/>
              </a:rPr>
              <a:t>did</a:t>
            </a:r>
            <a:r>
              <a:rPr lang="en-US" sz="3700" dirty="0">
                <a:latin typeface="DM Sans 14pt" pitchFamily="2" charset="77"/>
              </a:rPr>
              <a:t> package in 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dirty="0">
                <a:latin typeface="DM Sans 14pt" pitchFamily="2" charset="77"/>
              </a:rPr>
              <a:t>Taking dynamic effects </a:t>
            </a:r>
            <a:r>
              <a:rPr lang="en-US" sz="3700" i="1" dirty="0">
                <a:solidFill>
                  <a:srgbClr val="88D18A"/>
                </a:solidFill>
                <a:latin typeface="Lora SemiBold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  <a:r>
              <a:rPr lang="en-US" sz="3700" dirty="0">
                <a:latin typeface="DM Sans 14pt" pitchFamily="2" charset="77"/>
              </a:rPr>
              <a:t> seriously: projecting group-specific effects to 2025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dirty="0">
                <a:latin typeface="DM Sans 14pt" pitchFamily="2" charset="77"/>
              </a:rPr>
              <a:t>Taking dynamic effects </a:t>
            </a:r>
            <a:r>
              <a:rPr lang="en-US" sz="3700" i="1" dirty="0">
                <a:solidFill>
                  <a:srgbClr val="C05746"/>
                </a:solidFill>
                <a:latin typeface="Lora SemiBold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less</a:t>
            </a:r>
            <a:r>
              <a:rPr lang="en-US" sz="3700" dirty="0">
                <a:latin typeface="DM Sans 14pt" pitchFamily="2" charset="77"/>
              </a:rPr>
              <a:t> seriously: assuming constant group-specific effects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dirty="0">
                <a:latin typeface="DM Sans 14pt" pitchFamily="2" charset="77"/>
              </a:rPr>
              <a:t>Influence functions may be used to obtain estimates of variability (not shown)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DM Sans 14pt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63F3BA-A452-9CE4-151A-9EC79F66EBD6}"/>
              </a:ext>
            </a:extLst>
          </p:cNvPr>
          <p:cNvSpPr txBox="1"/>
          <p:nvPr/>
        </p:nvSpPr>
        <p:spPr>
          <a:xfrm>
            <a:off x="25523113" y="14146391"/>
            <a:ext cx="9328473" cy="3416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algn="ctr"/>
            <a:r>
              <a:rPr lang="en-US" sz="5200" dirty="0">
                <a:solidFill>
                  <a:srgbClr val="751DDB"/>
                </a:solidFill>
                <a:latin typeface="Outfit" pitchFamily="2" charset="0"/>
              </a:rPr>
              <a:t>How can estimates on yesterday’s data inform policy decisions today if policy effects are always changing?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709C01A-D914-C5BB-4B80-3DDEBAFF1A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23113" y="21670566"/>
            <a:ext cx="18368085" cy="11220327"/>
          </a:xfrm>
          <a:prstGeom prst="rect">
            <a:avLst/>
          </a:prstGeom>
        </p:spPr>
      </p:pic>
      <p:sp>
        <p:nvSpPr>
          <p:cNvPr id="39" name="Title 11">
            <a:extLst>
              <a:ext uri="{FF2B5EF4-FFF2-40B4-BE49-F238E27FC236}">
                <a16:creationId xmlns:a16="http://schemas.microsoft.com/office/drawing/2014/main" id="{4180CC49-F074-89A0-B782-6C6A47A6A2A5}"/>
              </a:ext>
            </a:extLst>
          </p:cNvPr>
          <p:cNvSpPr txBox="1"/>
          <p:nvPr/>
        </p:nvSpPr>
        <p:spPr>
          <a:xfrm>
            <a:off x="392189" y="30251400"/>
            <a:ext cx="22399913" cy="1676400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kern="1200" smtId="4294967295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400" dirty="0">
                <a:solidFill>
                  <a:srgbClr val="FFC000"/>
                </a:solidFill>
                <a:latin typeface="Montserrat" panose="00000500000000000000" pitchFamily="2" charset="0"/>
              </a:rPr>
              <a:t>Definitions</a:t>
            </a:r>
            <a:r>
              <a:rPr lang="en-US" sz="3400" dirty="0">
                <a:solidFill>
                  <a:schemeClr val="bg1"/>
                </a:solidFill>
                <a:latin typeface="Montserrat" panose="00000500000000000000" pitchFamily="2" charset="0"/>
              </a:rPr>
              <a:t>: 	ATT = Average treatment effect on the treated </a:t>
            </a:r>
          </a:p>
          <a:p>
            <a:pPr algn="l"/>
            <a:r>
              <a:rPr lang="en-US" sz="3400" dirty="0">
                <a:solidFill>
                  <a:schemeClr val="bg1"/>
                </a:solidFill>
                <a:latin typeface="Montserrat" panose="00000500000000000000" pitchFamily="2" charset="0"/>
              </a:rPr>
              <a:t>	ATE = Average treatment effect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1E2B8-8ECC-CE85-5857-8F8F83BDA2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4" y="13288804"/>
            <a:ext cx="25416565" cy="5608796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09.30"/>
  <p:tag name="AS_TITLE" val="Aspose.Slides for .NET 4.0"/>
  <p:tag name="AS_VERSION" val="16.9.0.0"/>
  <p:tag name="MAKESIGNSTEMPLATE" val="persuadingsapphire|09-2018"/>
</p:tagLst>
</file>

<file path=ppt/theme/theme1.xml><?xml version="1.0" encoding="utf-8"?>
<a:theme xmlns:a="http://schemas.openxmlformats.org/drawingml/2006/main" name="Blank Presentatio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Blank Presentatio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8975c20-18d4-40c9-811f-0d8ea387c6ea}" enabled="0" method="" siteId="{78975c20-18d4-40c9-811f-0d8ea387c6e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19831</TotalTime>
  <Words>307</Words>
  <Application>Microsoft Macintosh PowerPoint</Application>
  <PresentationFormat>Custom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Lora SemiBold</vt:lpstr>
      <vt:lpstr>DM Sans 14pt</vt:lpstr>
      <vt:lpstr>Lora Medium</vt:lpstr>
      <vt:lpstr>Montserrat Light</vt:lpstr>
      <vt:lpstr>Libre Baskerville</vt:lpstr>
      <vt:lpstr>Montserrat</vt:lpstr>
      <vt:lpstr>Outfit</vt:lpstr>
      <vt:lpstr>Lora</vt:lpstr>
      <vt:lpstr>Lucida Console</vt:lpstr>
      <vt:lpstr>Times New Roman</vt:lpstr>
      <vt:lpstr>Arial</vt:lpstr>
      <vt:lpstr>Blank Presentation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to make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Denis Agniel</cp:lastModifiedBy>
  <cp:revision>310</cp:revision>
  <cp:lastPrinted>2006-11-15T16:04:57Z</cp:lastPrinted>
  <dcterms:modified xsi:type="dcterms:W3CDTF">2025-11-07T14:24:04Z</dcterms:modified>
  <cp:category>templates for scientific poster</cp:category>
</cp:coreProperties>
</file>